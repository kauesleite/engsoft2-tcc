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a2524460-75bf-17af-488a-1c783063a9ca}">
          <p14:sldIdLst>
            <p14:sldId id="256"/>
            <p14:sldId id="257"/>
            <p14:sldId id="258"/>
          </p14:sldIdLst>
        </p14:section>
        <p14:section name="Projeto do sistema" id="{fd445425-47ef-aa03-5fca-774d381e684d}">
          <p14:sldIdLst>
            <p14:sldId id="259"/>
            <p14:sldId id="260"/>
            <p14:sldId id="261"/>
          </p14:sldIdLst>
        </p14:section>
        <p14:section name="Planejamento" id="{8d88fcd0-72e0-6023-e502-190425701e64}">
          <p14:sldIdLst>
            <p14:sldId id="262"/>
            <p14:sldId id="263"/>
          </p14:sldIdLst>
        </p14:section>
        <p14:section name="Encerramento" id="{93c29202-d102-362e-64a5-f02d6426f91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o contexto: o ProTCC é o projeto da disciplina de Engenharia de Software II. Até aqui o trabalho cobriu análise do problema, requisitos e projeto conceitual (Missões 1 a 4); ainda não há código. Nesta apresentação mostramos o problema, os requisitos, a arquitetura proposta, protótipos de tela, o planejamento e os riscos.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dor central não é falta de ferramenta, e sim fragmentação: cada canal guarda um pedaço da história do TCC. Isso afeta os três perfis de forma diferente: o aluno perde a noção do que já foi aprovado, o orientador não sabe de imediato quem espera sua avaliação e a coordenação não consegue ver atrasos no curso como um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geral cabe numa frase; os quatro específicos são o que diferencia o ProTCC de um repositório de arquivos: vínculo formal, submissão fora de ordem, histórico inviolável e progresso calculado. À direita, a fronteira: o sistema não cuida de bancas, documentos oficiais nem integra com SIGAA. Controle de prazos não está nos requisitos atuais, mas foi analisado como mudança provável na Missão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requisitos foram levantados por stakeholder: 15 funcionais, 6 não funcionais e 13 regras de negócio, com tabela de rastreabilidade até os casos de uso. O aluno concentra a maior parte dos casos de uso, mas o UC05 é o mais denso: dele dependem o histórico de versões, a avaliação do orientador e o cálculo do progresso. Por isso as Missões 3 e 4 aprofundaram justamente esse caso de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stack ainda está em definição; o que defendemos aqui são as decisões de projeto, que valem para qualquer stack. Banco relacional porque a Entrega e a situação da Etapa precisam ser gravadas na mesma transação (D10). O repositório só oferece inclusão de versões, então o histórico é preservado pela própria estrutura (D09). O aviso ao orientador sai por um evento, EntregaRegistrada, de modo que trocar e-mail por notificação no sistema não mexe na submissão (D07). TCC, Etapa e Entrega vêm dos cartões CRC da Missão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protótipos de baixa fidelidade, com dados fictícios. No painel do orientador, o primeiro indicador destacado é o número de entregas aguardando avaliação, e a tabela vem ordenada por essa prioridade, atendendo ao RF14. A primeira linha reproduz o cenário da Missão 4: uma dupla que reenviou a Fundamentação teórica como versão 2. No celular, o aluno vê o progresso calculado pela RN13 (2 de 5 etapas aprovadas) e a situação de cada etapa, sem rolagem horizontal (RNF04). A lista de etapas é ilustrativa porque a decisão D11 ainda está aberta.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à esquerda da marca 'hoje' está entregue: problema, requisitos, raio-X estrutural e mapa de responsabilidades. O próximo passo é a Clínica de Projetos, onde levaremos a dúvida D11, seguida do diagrama de classes da Unidade 2 e da validação dos protótipos. A implementação está planejada em três incrementos que seguem a dependência natural do sistema: primeiro vínculos, depois submissão e avaliação, por fim progresso e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desafio mais trabalhoso até agora foi o controle de acesso: a mesma pergunta, 'esse usuário pode fazer isso?', tem duas camadas. O perfil (aluno, professor, coordenação) é verificado na API; o vínculo com aquele TCC específico é verificado pelo próprio TCC no domínio. Os demais riscos vêm de decisões registradas no diário: a lista de etapas ainda indefinida (D11), a situação da etapa armazenada para desempenho (D10), a Etapa concentrando regras (D08) e o custo de armazenamento do histórico imutável (D09).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Fechando: o resultado esperado do ProTCC é que cada perfil encontre em um único lugar o que hoje está espalhado. O aluno sabe o estado de cada etapa e versão; o orientador vê a fila do que aguarda avaliação; a coordenação acompanha o curso e identifica atrasos. Os próximos passos são concretos: decidir a lista de etapas, modelar as classes centrais e validar os protótipos com quem vai usar 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usadas no projeto: Sommerville e Pressman para requisitos e processo, Larman para atribuição de responsabilidades, Beck e Cunningham para os cartões CRC e o Guia do Scrum para o processo incremental. Toda a documentação das Missões está no repositório do grupo.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11094415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ProTCC · Engenharia de Software II · UNIFAP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auesleite/engsoft2-tcc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ProTCC: sistema de acompanhamento de Trabalhos de Conclusão de Curso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Engenharia de Software II · Bacharelado em Ciência da Computação · UNIFAP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Docente: Adeildo Telles da Silva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Gustavo Carvalho Ferreira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João Felype Palmerim Mendonça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João Lucas Farias de Sena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45262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Kauê da Silva Leite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Lucas Mateus Vilhena Alves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Nicolas de Carvalho Lamarão Gomes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Macapá · outubro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 acompanhamento do TCC hoje se dispersa entre e-mails, mensagens e arquivos avulsos</a:t>
            </a:r>
            <a:endParaRPr lang="en-US" sz="2600" dirty="0"/>
          </a:p>
        </p:txBody>
      </p:sp>
      <p:sp>
        <p:nvSpPr>
          <p:cNvPr id="3" name="Canal 1"/>
          <p:cNvSpPr/>
          <p:nvPr/>
        </p:nvSpPr>
        <p:spPr>
          <a:xfrm>
            <a:off x="548640" y="1417320"/>
            <a:ext cx="2567864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E-mails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32572" y="1938528"/>
            <a:ext cx="1459268" cy="5486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Canal 2"/>
          <p:cNvSpPr/>
          <p:nvPr/>
        </p:nvSpPr>
        <p:spPr>
          <a:xfrm>
            <a:off x="3390824" y="1417320"/>
            <a:ext cx="2567864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90824" y="1417320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Aplicativos de mensagem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74756" y="1938528"/>
            <a:ext cx="537324" cy="5486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Canal 3"/>
          <p:cNvSpPr/>
          <p:nvPr/>
        </p:nvSpPr>
        <p:spPr>
          <a:xfrm>
            <a:off x="6233008" y="1417320"/>
            <a:ext cx="2567864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33008" y="1417320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Arquivos enviados avulsos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flipH="1">
            <a:off x="7040880" y="1938528"/>
            <a:ext cx="476059" cy="5486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Canal 4"/>
          <p:cNvSpPr/>
          <p:nvPr/>
        </p:nvSpPr>
        <p:spPr>
          <a:xfrm>
            <a:off x="9075191" y="1417320"/>
            <a:ext cx="2567864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75191" y="1417320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Anotações individuais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H="1">
            <a:off x="8961120" y="1938528"/>
            <a:ext cx="1398003" cy="5486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Consequência"/>
          <p:cNvSpPr/>
          <p:nvPr/>
        </p:nvSpPr>
        <p:spPr>
          <a:xfrm>
            <a:off x="2194560" y="2514600"/>
            <a:ext cx="779983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94560" y="251460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Não há registro único do que foi entregue, revisado ou aprovado</a:t>
            </a:r>
            <a:endParaRPr lang="en-US" sz="1900" dirty="0"/>
          </a:p>
        </p:txBody>
      </p:sp>
      <p:sp>
        <p:nvSpPr>
          <p:cNvPr id="17" name="Dor Aluno"/>
          <p:cNvSpPr/>
          <p:nvPr/>
        </p:nvSpPr>
        <p:spPr>
          <a:xfrm>
            <a:off x="548640" y="3474720"/>
            <a:ext cx="3484778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70332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Aluno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06240"/>
            <a:ext cx="29361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Não tem visão clara do que já foi entregue, revisado ou aprovado</a:t>
            </a:r>
            <a:endParaRPr lang="en-US" sz="1800" dirty="0"/>
          </a:p>
        </p:txBody>
      </p:sp>
      <p:sp>
        <p:nvSpPr>
          <p:cNvPr id="20" name="Dor Orientador"/>
          <p:cNvSpPr/>
          <p:nvPr/>
        </p:nvSpPr>
        <p:spPr>
          <a:xfrm>
            <a:off x="4353458" y="3474720"/>
            <a:ext cx="3484778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27778" y="370332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Orientador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27778" y="4206240"/>
            <a:ext cx="29361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Não identifica rapidamente quais orientandos aguardam sua análise</a:t>
            </a:r>
            <a:endParaRPr lang="en-US" sz="1800" dirty="0"/>
          </a:p>
        </p:txBody>
      </p:sp>
      <p:sp>
        <p:nvSpPr>
          <p:cNvPr id="23" name="Dor Coordenação"/>
          <p:cNvSpPr/>
          <p:nvPr/>
        </p:nvSpPr>
        <p:spPr>
          <a:xfrm>
            <a:off x="8158277" y="3474720"/>
            <a:ext cx="3484778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32597" y="370332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Coordenação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432597" y="4206240"/>
            <a:ext cx="29361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Não enxerga atrasos, pendências ou baixa evolução no curso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Fonte: Missão 1 – O problema antes da solução (grupo, 2026)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 ProTCC centraliza vínculos, entregas, avaliações e progresso em um fluxo único e auditável</a:t>
            </a:r>
            <a:endParaRPr lang="en-US" sz="2600" dirty="0"/>
          </a:p>
        </p:txBody>
      </p:sp>
      <p:sp>
        <p:nvSpPr>
          <p:cNvPr id="3" name="Objetivo geral"/>
          <p:cNvSpPr/>
          <p:nvPr/>
        </p:nvSpPr>
        <p:spPr>
          <a:xfrm>
            <a:off x="548640" y="1417320"/>
            <a:ext cx="6766560" cy="1051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Objetivo geral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Centralizar o acompanhamento do TCC, do vínculo com o orientador à aprovação de cada etapa</a:t>
            </a:r>
            <a:endParaRPr lang="en-US" sz="1800" dirty="0"/>
          </a:p>
        </p:txBody>
      </p:sp>
      <p:sp>
        <p:nvSpPr>
          <p:cNvPr id="5" name="Número 1"/>
          <p:cNvSpPr/>
          <p:nvPr/>
        </p:nvSpPr>
        <p:spPr>
          <a:xfrm>
            <a:off x="548640" y="2770632"/>
            <a:ext cx="475488" cy="47548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770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97480"/>
            <a:ext cx="6080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Formalizar dupla e orientação por convite e aceite digitais</a:t>
            </a:r>
            <a:endParaRPr lang="en-US" sz="1800" dirty="0"/>
          </a:p>
        </p:txBody>
      </p:sp>
      <p:sp>
        <p:nvSpPr>
          <p:cNvPr id="8" name="Número 2"/>
          <p:cNvSpPr/>
          <p:nvPr/>
        </p:nvSpPr>
        <p:spPr>
          <a:xfrm>
            <a:off x="548640" y="3611880"/>
            <a:ext cx="475488" cy="47548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538728"/>
            <a:ext cx="6080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Aceitar entregas de etapas fora de ordem, com versionamento</a:t>
            </a:r>
            <a:endParaRPr lang="en-US" sz="1800" dirty="0"/>
          </a:p>
        </p:txBody>
      </p:sp>
      <p:sp>
        <p:nvSpPr>
          <p:cNvPr id="11" name="Número 3"/>
          <p:cNvSpPr/>
          <p:nvPr/>
        </p:nvSpPr>
        <p:spPr>
          <a:xfrm>
            <a:off x="548640" y="4453128"/>
            <a:ext cx="475488" cy="47548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379976"/>
            <a:ext cx="6080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Preservar todo o histórico de entregas e avaliações</a:t>
            </a:r>
            <a:endParaRPr lang="en-US" sz="1800" dirty="0"/>
          </a:p>
        </p:txBody>
      </p:sp>
      <p:sp>
        <p:nvSpPr>
          <p:cNvPr id="14" name="Número 4"/>
          <p:cNvSpPr/>
          <p:nvPr/>
        </p:nvSpPr>
        <p:spPr>
          <a:xfrm>
            <a:off x="548640" y="5294376"/>
            <a:ext cx="475488" cy="47548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294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221224"/>
            <a:ext cx="6080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Calcular o progresso pela proporção de etapas aprovadas</a:t>
            </a:r>
            <a:endParaRPr lang="en-US" sz="1800" dirty="0"/>
          </a:p>
        </p:txBody>
      </p:sp>
      <p:sp>
        <p:nvSpPr>
          <p:cNvPr id="17" name="Fora do escopo"/>
          <p:cNvSpPr/>
          <p:nvPr/>
        </p:nvSpPr>
        <p:spPr>
          <a:xfrm>
            <a:off x="7680960" y="1417320"/>
            <a:ext cx="3959352" cy="4572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Fora do escopo nesta versão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21031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Bancas, defesas e documentos oficiais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Edição do texto do TCC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Chat fora do feedback das entregas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Indicação automática de dupla ou orientador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Integração com SIGAA, DERCA e biblioteca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5074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Prazos por etapa: avaliados como evolução futura (Missão 4, Mudança 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Três perfis e dez casos de uso; o UC05 – Submeter etapa concentra as regras centrais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15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requisitos funcionais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requisitos não funcionais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13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12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regras de negócio</a:t>
            </a:r>
            <a:endParaRPr lang="en-US" sz="1600" dirty="0"/>
          </a:p>
        </p:txBody>
      </p:sp>
      <p:sp>
        <p:nvSpPr>
          <p:cNvPr id="9" name="Ator Aluno"/>
          <p:cNvSpPr/>
          <p:nvPr/>
        </p:nvSpPr>
        <p:spPr>
          <a:xfrm>
            <a:off x="3246120" y="1417320"/>
            <a:ext cx="2616098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46120" y="1417320"/>
            <a:ext cx="2616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Aluno</a:t>
            </a:r>
            <a:endParaRPr lang="en-US" sz="1800" dirty="0"/>
          </a:p>
        </p:txBody>
      </p:sp>
      <p:sp>
        <p:nvSpPr>
          <p:cNvPr id="11" name="UC01 Aluno"/>
          <p:cNvSpPr/>
          <p:nvPr/>
        </p:nvSpPr>
        <p:spPr>
          <a:xfrm>
            <a:off x="3246120" y="2103120"/>
            <a:ext cx="2616098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55848" y="2103120"/>
            <a:ext cx="23966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UC01 · Cadastrar pré-projeto</a:t>
            </a:r>
            <a:endParaRPr lang="en-US" sz="1400" dirty="0"/>
          </a:p>
        </p:txBody>
      </p:sp>
      <p:sp>
        <p:nvSpPr>
          <p:cNvPr id="13" name="UC02 Aluno"/>
          <p:cNvSpPr/>
          <p:nvPr/>
        </p:nvSpPr>
        <p:spPr>
          <a:xfrm>
            <a:off x="3246120" y="2688336"/>
            <a:ext cx="2616098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55848" y="2688336"/>
            <a:ext cx="23966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UC02 · Formar dupla</a:t>
            </a:r>
            <a:endParaRPr lang="en-US" sz="1400" dirty="0"/>
          </a:p>
        </p:txBody>
      </p:sp>
      <p:sp>
        <p:nvSpPr>
          <p:cNvPr id="15" name="UC03 Aluno"/>
          <p:cNvSpPr/>
          <p:nvPr/>
        </p:nvSpPr>
        <p:spPr>
          <a:xfrm>
            <a:off x="3246120" y="3273552"/>
            <a:ext cx="2616098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55848" y="3273552"/>
            <a:ext cx="23966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UC03 · Convidar orientador</a:t>
            </a:r>
            <a:endParaRPr lang="en-US" sz="1400" dirty="0"/>
          </a:p>
        </p:txBody>
      </p:sp>
      <p:sp>
        <p:nvSpPr>
          <p:cNvPr id="17" name="UC05 Aluno"/>
          <p:cNvSpPr/>
          <p:nvPr/>
        </p:nvSpPr>
        <p:spPr>
          <a:xfrm>
            <a:off x="3246120" y="3858768"/>
            <a:ext cx="2616098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55848" y="3858768"/>
            <a:ext cx="23966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UC05 · Submeter etapa</a:t>
            </a:r>
            <a:endParaRPr lang="en-US" sz="1400" dirty="0"/>
          </a:p>
        </p:txBody>
      </p:sp>
      <p:sp>
        <p:nvSpPr>
          <p:cNvPr id="19" name="UC07 Aluno"/>
          <p:cNvSpPr/>
          <p:nvPr/>
        </p:nvSpPr>
        <p:spPr>
          <a:xfrm>
            <a:off x="3246120" y="4443984"/>
            <a:ext cx="2616098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55848" y="4443984"/>
            <a:ext cx="23966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UC07 · Consultar histórico</a:t>
            </a:r>
            <a:endParaRPr lang="en-US" sz="1400" dirty="0"/>
          </a:p>
        </p:txBody>
      </p:sp>
      <p:sp>
        <p:nvSpPr>
          <p:cNvPr id="21" name="UC08 Aluno"/>
          <p:cNvSpPr/>
          <p:nvPr/>
        </p:nvSpPr>
        <p:spPr>
          <a:xfrm>
            <a:off x="3246120" y="5029200"/>
            <a:ext cx="2616098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55848" y="5029200"/>
            <a:ext cx="23966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UC08 · Acompanhar progresso</a:t>
            </a:r>
            <a:endParaRPr lang="en-US" sz="1400" dirty="0"/>
          </a:p>
        </p:txBody>
      </p:sp>
      <p:sp>
        <p:nvSpPr>
          <p:cNvPr id="23" name="Ator Professor-orientador"/>
          <p:cNvSpPr/>
          <p:nvPr/>
        </p:nvSpPr>
        <p:spPr>
          <a:xfrm>
            <a:off x="6136538" y="1417320"/>
            <a:ext cx="2616098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36538" y="1417320"/>
            <a:ext cx="2616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Professor-orientador</a:t>
            </a:r>
            <a:endParaRPr lang="en-US" sz="1800" dirty="0"/>
          </a:p>
        </p:txBody>
      </p:sp>
      <p:sp>
        <p:nvSpPr>
          <p:cNvPr id="25" name="UC04 Professor-orientador"/>
          <p:cNvSpPr/>
          <p:nvPr/>
        </p:nvSpPr>
        <p:spPr>
          <a:xfrm>
            <a:off x="6136538" y="2103120"/>
            <a:ext cx="2616098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46266" y="2103120"/>
            <a:ext cx="23966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UC04 · Responder convite</a:t>
            </a:r>
            <a:endParaRPr lang="en-US" sz="1400" dirty="0"/>
          </a:p>
        </p:txBody>
      </p:sp>
      <p:sp>
        <p:nvSpPr>
          <p:cNvPr id="27" name="UC06 Professor-orientador"/>
          <p:cNvSpPr/>
          <p:nvPr/>
        </p:nvSpPr>
        <p:spPr>
          <a:xfrm>
            <a:off x="6136538" y="2688336"/>
            <a:ext cx="2616098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46266" y="2688336"/>
            <a:ext cx="23966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UC06 · Avaliar entrega</a:t>
            </a:r>
            <a:endParaRPr lang="en-US" sz="1400" dirty="0"/>
          </a:p>
        </p:txBody>
      </p:sp>
      <p:sp>
        <p:nvSpPr>
          <p:cNvPr id="29" name="UC07 Professor-orientador"/>
          <p:cNvSpPr/>
          <p:nvPr/>
        </p:nvSpPr>
        <p:spPr>
          <a:xfrm>
            <a:off x="6136538" y="3273552"/>
            <a:ext cx="2616098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46266" y="3273552"/>
            <a:ext cx="23966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UC07 · Consultar histórico</a:t>
            </a:r>
            <a:endParaRPr lang="en-US" sz="1400" dirty="0"/>
          </a:p>
        </p:txBody>
      </p:sp>
      <p:sp>
        <p:nvSpPr>
          <p:cNvPr id="31" name="UC09 Professor-orientador"/>
          <p:cNvSpPr/>
          <p:nvPr/>
        </p:nvSpPr>
        <p:spPr>
          <a:xfrm>
            <a:off x="6136538" y="3858768"/>
            <a:ext cx="2616098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46266" y="3858768"/>
            <a:ext cx="23966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UC09 · Acompanhar orientandos</a:t>
            </a:r>
            <a:endParaRPr lang="en-US" sz="1400" dirty="0"/>
          </a:p>
        </p:txBody>
      </p:sp>
      <p:sp>
        <p:nvSpPr>
          <p:cNvPr id="33" name="Ator Coordenação"/>
          <p:cNvSpPr/>
          <p:nvPr/>
        </p:nvSpPr>
        <p:spPr>
          <a:xfrm>
            <a:off x="9026957" y="1417320"/>
            <a:ext cx="2616098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26957" y="1417320"/>
            <a:ext cx="2616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Coordenação</a:t>
            </a:r>
            <a:endParaRPr lang="en-US" sz="1800" dirty="0"/>
          </a:p>
        </p:txBody>
      </p:sp>
      <p:sp>
        <p:nvSpPr>
          <p:cNvPr id="35" name="UC10 Coordenação"/>
          <p:cNvSpPr/>
          <p:nvPr/>
        </p:nvSpPr>
        <p:spPr>
          <a:xfrm>
            <a:off x="9026957" y="2103120"/>
            <a:ext cx="2616098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36685" y="2103120"/>
            <a:ext cx="23966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UC10 · Acompanhar TCCs do curso</a:t>
            </a:r>
            <a:endParaRPr lang="en-US" sz="1400" dirty="0"/>
          </a:p>
        </p:txBody>
      </p:sp>
      <p:sp>
        <p:nvSpPr>
          <p:cNvPr id="37" name="Destaque UC05"/>
          <p:cNvSpPr/>
          <p:nvPr/>
        </p:nvSpPr>
        <p:spPr>
          <a:xfrm>
            <a:off x="6136538" y="4617720"/>
            <a:ext cx="5506517" cy="1097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19418" y="4617720"/>
            <a:ext cx="51407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Por que o UC05: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reúne RF08, RF10, RF11 e RF12 e alimenta a avaliação (UC06) e os dashboards (RF14, RF15)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Fonte: Missão 2 – Das necessidades aos requisitos (grupo, 2026)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 arquitetura proposta isola o núcleo da submissão do armazenamento e do canal de aviso</a:t>
            </a:r>
            <a:endParaRPr lang="en-US" sz="2600" dirty="0"/>
          </a:p>
        </p:txBody>
      </p:sp>
      <p:sp>
        <p:nvSpPr>
          <p:cNvPr id="3" name="Cliente web"/>
          <p:cNvSpPr/>
          <p:nvPr/>
        </p:nvSpPr>
        <p:spPr>
          <a:xfrm>
            <a:off x="548640" y="1371600"/>
            <a:ext cx="694944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Cliente web responsivo · React + TypeScript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23360" y="1956816"/>
            <a:ext cx="91" cy="32918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16052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API REST · HTTPS</a:t>
            </a:r>
            <a:endParaRPr lang="en-US" sz="1200" dirty="0"/>
          </a:p>
        </p:txBody>
      </p:sp>
      <p:sp>
        <p:nvSpPr>
          <p:cNvPr id="7" name="Servidor"/>
          <p:cNvSpPr/>
          <p:nvPr/>
        </p:nvSpPr>
        <p:spPr>
          <a:xfrm>
            <a:off x="548640" y="2304288"/>
            <a:ext cx="6949440" cy="26060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77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Servidor de aplicação · Node.js (NestJS)</a:t>
            </a:r>
            <a:endParaRPr lang="en-US" sz="1400" dirty="0"/>
          </a:p>
        </p:txBody>
      </p:sp>
      <p:sp>
        <p:nvSpPr>
          <p:cNvPr id="9" name="Controle de acesso"/>
          <p:cNvSpPr/>
          <p:nvPr/>
        </p:nvSpPr>
        <p:spPr>
          <a:xfrm>
            <a:off x="731520" y="2724912"/>
            <a:ext cx="658368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2491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Autenticação e controle de acesso por perfil (RNF01, RNF02)</a:t>
            </a:r>
            <a:endParaRPr lang="en-US" sz="1400" dirty="0"/>
          </a:p>
        </p:txBody>
      </p:sp>
      <p:sp>
        <p:nvSpPr>
          <p:cNvPr id="11" name="ServicoSubmissao"/>
          <p:cNvSpPr/>
          <p:nvPr/>
        </p:nvSpPr>
        <p:spPr>
          <a:xfrm>
            <a:off x="731520" y="3401568"/>
            <a:ext cx="3383280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4015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ServicoSubmissao (orquestra o UC05)</a:t>
            </a:r>
            <a:endParaRPr lang="en-US" sz="1400" dirty="0"/>
          </a:p>
        </p:txBody>
      </p:sp>
      <p:sp>
        <p:nvSpPr>
          <p:cNvPr id="13" name="ServicoNotificacao"/>
          <p:cNvSpPr/>
          <p:nvPr/>
        </p:nvSpPr>
        <p:spPr>
          <a:xfrm>
            <a:off x="4846320" y="3401568"/>
            <a:ext cx="246888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4015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ServicoNotificacao → e-mail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3657600"/>
            <a:ext cx="713232" cy="91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160520" y="3364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evento</a:t>
            </a:r>
            <a:endParaRPr lang="en-US" sz="1100" dirty="0"/>
          </a:p>
        </p:txBody>
      </p:sp>
      <p:sp>
        <p:nvSpPr>
          <p:cNvPr id="17" name="Domínio TCC"/>
          <p:cNvSpPr/>
          <p:nvPr/>
        </p:nvSpPr>
        <p:spPr>
          <a:xfrm>
            <a:off x="731520" y="4160520"/>
            <a:ext cx="105156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160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TCC</a:t>
            </a:r>
            <a:endParaRPr lang="en-US" sz="1500" dirty="0"/>
          </a:p>
        </p:txBody>
      </p:sp>
      <p:sp>
        <p:nvSpPr>
          <p:cNvPr id="19" name="Domínio Etapa"/>
          <p:cNvSpPr/>
          <p:nvPr/>
        </p:nvSpPr>
        <p:spPr>
          <a:xfrm>
            <a:off x="1920240" y="4160520"/>
            <a:ext cx="105156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920240" y="4160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Etapa</a:t>
            </a:r>
            <a:endParaRPr lang="en-US" sz="1500" dirty="0"/>
          </a:p>
        </p:txBody>
      </p:sp>
      <p:sp>
        <p:nvSpPr>
          <p:cNvPr id="21" name="Domínio Entrega"/>
          <p:cNvSpPr/>
          <p:nvPr/>
        </p:nvSpPr>
        <p:spPr>
          <a:xfrm>
            <a:off x="3108960" y="4160520"/>
            <a:ext cx="105156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108960" y="4160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Entrega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423160" y="3922776"/>
            <a:ext cx="91" cy="219456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RepositorioTCC"/>
          <p:cNvSpPr/>
          <p:nvPr/>
        </p:nvSpPr>
        <p:spPr>
          <a:xfrm>
            <a:off x="4343400" y="4160520"/>
            <a:ext cx="2971800" cy="548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43400" y="4160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RepositorioTCC (só inclusão)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40280" y="4928616"/>
            <a:ext cx="91" cy="28346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06440" y="4928616"/>
            <a:ext cx="91" cy="28346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PostgreSQL"/>
          <p:cNvSpPr/>
          <p:nvPr/>
        </p:nvSpPr>
        <p:spPr>
          <a:xfrm>
            <a:off x="548640" y="5230368"/>
            <a:ext cx="338328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2303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PostgreSQL (relacional)</a:t>
            </a:r>
            <a:endParaRPr lang="en-US" sz="1500" dirty="0"/>
          </a:p>
        </p:txBody>
      </p:sp>
      <p:sp>
        <p:nvSpPr>
          <p:cNvPr id="30" name="Arquivos"/>
          <p:cNvSpPr/>
          <p:nvPr/>
        </p:nvSpPr>
        <p:spPr>
          <a:xfrm>
            <a:off x="4114800" y="5230368"/>
            <a:ext cx="338328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0" y="52303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Armazenamento de arquivos (S3/MinIO)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Classes candidatas derivadas dos cartões CRC da Missão 4 (Beck; Cunningham, 1989)</a:t>
            </a:r>
            <a:endParaRPr lang="en-US" sz="1200" dirty="0"/>
          </a:p>
        </p:txBody>
      </p:sp>
      <p:sp>
        <p:nvSpPr>
          <p:cNvPr id="33" name="Selo em definição"/>
          <p:cNvSpPr/>
          <p:nvPr/>
        </p:nvSpPr>
        <p:spPr>
          <a:xfrm>
            <a:off x="7909560" y="1371600"/>
            <a:ext cx="3733495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09560" y="1371600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Stack proposta · em definição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909560" y="1965960"/>
            <a:ext cx="37334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Banco relacional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Entrega e situação da etapa gravadas na mesma transação (D10)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909560" y="2944368"/>
            <a:ext cx="37334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Repositório só de inclusão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Versões anteriores nunca são alteradas (RNF06, D09)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909560" y="3922776"/>
            <a:ext cx="37334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Aviso por evento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Trocar o canal de aviso não afeta a submissão (D07)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7909560" y="4901184"/>
            <a:ext cx="37334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Interface responsiva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Uso em smartphone sem rolagem horizontal (RNF04)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Os protótipos mostram primeiro o que cada perfil precisa decidir ou acompanhar</a:t>
            </a:r>
            <a:endParaRPr lang="en-US" sz="2600" dirty="0"/>
          </a:p>
        </p:txBody>
      </p:sp>
      <p:sp>
        <p:nvSpPr>
          <p:cNvPr id="3" name="Moldura desktop"/>
          <p:cNvSpPr/>
          <p:nvPr/>
        </p:nvSpPr>
        <p:spPr>
          <a:xfrm>
            <a:off x="548640" y="1371600"/>
            <a:ext cx="7406640" cy="4343400"/>
          </a:xfrm>
          <a:prstGeom prst="rect">
            <a:avLst/>
          </a:prstGeom>
          <a:solidFill>
            <a:schemeClr val="bg1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4" name="Barra do navegador"/>
          <p:cNvSpPr/>
          <p:nvPr/>
        </p:nvSpPr>
        <p:spPr>
          <a:xfrm>
            <a:off x="548640" y="1371600"/>
            <a:ext cx="7406640" cy="292608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5" name="Botão janela 0"/>
          <p:cNvSpPr/>
          <p:nvPr/>
        </p:nvSpPr>
        <p:spPr>
          <a:xfrm>
            <a:off x="658368" y="1463040"/>
            <a:ext cx="109728" cy="109728"/>
          </a:xfrm>
          <a:prstGeom prst="ellipse">
            <a:avLst/>
          </a:prstGeom>
          <a:solidFill>
            <a:srgbClr val="8A96A3"/>
          </a:solidFill>
          <a:ln/>
        </p:spPr>
      </p:sp>
      <p:sp>
        <p:nvSpPr>
          <p:cNvPr id="6" name="Botão janela 1"/>
          <p:cNvSpPr/>
          <p:nvPr/>
        </p:nvSpPr>
        <p:spPr>
          <a:xfrm>
            <a:off x="822960" y="1463040"/>
            <a:ext cx="109728" cy="109728"/>
          </a:xfrm>
          <a:prstGeom prst="ellipse">
            <a:avLst/>
          </a:prstGeom>
          <a:solidFill>
            <a:srgbClr val="8A96A3"/>
          </a:solidFill>
          <a:ln/>
        </p:spPr>
      </p:sp>
      <p:sp>
        <p:nvSpPr>
          <p:cNvPr id="7" name="Botão janela 2"/>
          <p:cNvSpPr/>
          <p:nvPr/>
        </p:nvSpPr>
        <p:spPr>
          <a:xfrm>
            <a:off x="987552" y="1463040"/>
            <a:ext cx="109728" cy="109728"/>
          </a:xfrm>
          <a:prstGeom prst="ellipse">
            <a:avLst/>
          </a:prstGeom>
          <a:solidFill>
            <a:srgbClr val="8A96A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1408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protcc · painel do orientador</a:t>
            </a:r>
            <a:endParaRPr lang="en-US" sz="1000" dirty="0"/>
          </a:p>
        </p:txBody>
      </p:sp>
      <p:sp>
        <p:nvSpPr>
          <p:cNvPr id="9" name="Menu lateral"/>
          <p:cNvSpPr/>
          <p:nvPr/>
        </p:nvSpPr>
        <p:spPr>
          <a:xfrm>
            <a:off x="548640" y="1664208"/>
            <a:ext cx="1371600" cy="40507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ProTCC</a:t>
            </a:r>
            <a:endParaRPr lang="en-US" sz="1300" dirty="0"/>
          </a:p>
        </p:txBody>
      </p:sp>
      <p:sp>
        <p:nvSpPr>
          <p:cNvPr id="11" name="Item ativo"/>
          <p:cNvSpPr/>
          <p:nvPr/>
        </p:nvSpPr>
        <p:spPr>
          <a:xfrm>
            <a:off x="548640" y="2203704"/>
            <a:ext cx="1371600" cy="3291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2402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Painel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6243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Orientandos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0083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Convites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3924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Histórico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Painel do orientador</a:t>
            </a:r>
            <a:endParaRPr lang="en-US" sz="1500" dirty="0"/>
          </a:p>
        </p:txBody>
      </p:sp>
      <p:sp>
        <p:nvSpPr>
          <p:cNvPr id="17" name="Indicador 1"/>
          <p:cNvSpPr/>
          <p:nvPr/>
        </p:nvSpPr>
        <p:spPr>
          <a:xfrm>
            <a:off x="2103120" y="2194560"/>
            <a:ext cx="1798320" cy="7315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24028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240280" y="2615184"/>
            <a:ext cx="1569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aguardando sua avaliação</a:t>
            </a:r>
            <a:endParaRPr lang="en-US" sz="1000" dirty="0"/>
          </a:p>
        </p:txBody>
      </p:sp>
      <p:sp>
        <p:nvSpPr>
          <p:cNvPr id="20" name="Indicador 2"/>
          <p:cNvSpPr/>
          <p:nvPr/>
        </p:nvSpPr>
        <p:spPr>
          <a:xfrm>
            <a:off x="4038600" y="2194560"/>
            <a:ext cx="1798320" cy="731520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17576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175760" y="2615184"/>
            <a:ext cx="1569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TCCs orientados</a:t>
            </a:r>
            <a:endParaRPr lang="en-US" sz="1000" dirty="0"/>
          </a:p>
        </p:txBody>
      </p:sp>
      <p:sp>
        <p:nvSpPr>
          <p:cNvPr id="23" name="Indicador 3"/>
          <p:cNvSpPr/>
          <p:nvPr/>
        </p:nvSpPr>
        <p:spPr>
          <a:xfrm>
            <a:off x="5974080" y="2194560"/>
            <a:ext cx="1798320" cy="731520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1124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1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111240" y="2615184"/>
            <a:ext cx="1569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com alterações solicitadas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30906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Integrantes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30906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Etapa em foco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30906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Progresso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0906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Situação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3355848"/>
            <a:ext cx="5669280" cy="91"/>
          </a:xfrm>
          <a:prstGeom prst="line">
            <a:avLst/>
          </a:prstGeom>
          <a:noFill/>
          <a:ln w="12700">
            <a:solidFill>
              <a:srgbClr val="E9ED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03120" y="3429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Ana Souza e Bruno Lima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794760" y="3429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Fundamentação teórica (v2)</a:t>
            </a:r>
            <a:endParaRPr lang="en-US" sz="1000" dirty="0"/>
          </a:p>
        </p:txBody>
      </p:sp>
      <p:sp>
        <p:nvSpPr>
          <p:cNvPr id="33" name="Barra fundo 0"/>
          <p:cNvSpPr/>
          <p:nvPr/>
        </p:nvSpPr>
        <p:spPr>
          <a:xfrm>
            <a:off x="5257800" y="3611880"/>
            <a:ext cx="594360" cy="91440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34" name="Barra progresso 0"/>
          <p:cNvSpPr/>
          <p:nvPr/>
        </p:nvSpPr>
        <p:spPr>
          <a:xfrm>
            <a:off x="5257800" y="3611880"/>
            <a:ext cx="237744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16168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40%</a:t>
            </a:r>
            <a:endParaRPr lang="en-US" sz="1000" dirty="0"/>
          </a:p>
        </p:txBody>
      </p:sp>
      <p:sp>
        <p:nvSpPr>
          <p:cNvPr id="36" name="Situação 0"/>
          <p:cNvSpPr/>
          <p:nvPr/>
        </p:nvSpPr>
        <p:spPr>
          <a:xfrm>
            <a:off x="6309360" y="3520440"/>
            <a:ext cx="13716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0936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Aguardando avaliação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03120" y="3931920"/>
            <a:ext cx="5669280" cy="91"/>
          </a:xfrm>
          <a:prstGeom prst="line">
            <a:avLst/>
          </a:prstGeom>
          <a:noFill/>
          <a:ln w="9525">
            <a:solidFill>
              <a:srgbClr val="E9EDF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103120" y="3977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Diego Rocha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79476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Introdução (v1)</a:t>
            </a:r>
            <a:endParaRPr lang="en-US" sz="1000" dirty="0"/>
          </a:p>
        </p:txBody>
      </p:sp>
      <p:sp>
        <p:nvSpPr>
          <p:cNvPr id="41" name="Barra fundo 1"/>
          <p:cNvSpPr/>
          <p:nvPr/>
        </p:nvSpPr>
        <p:spPr>
          <a:xfrm>
            <a:off x="5257800" y="4160520"/>
            <a:ext cx="594360" cy="91440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42" name="Barra progresso 1"/>
          <p:cNvSpPr/>
          <p:nvPr/>
        </p:nvSpPr>
        <p:spPr>
          <a:xfrm>
            <a:off x="5257800" y="4160520"/>
            <a:ext cx="118872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916168" y="3977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20%</a:t>
            </a:r>
            <a:endParaRPr lang="en-US" sz="1000" dirty="0"/>
          </a:p>
        </p:txBody>
      </p:sp>
      <p:sp>
        <p:nvSpPr>
          <p:cNvPr id="44" name="Situação 1"/>
          <p:cNvSpPr/>
          <p:nvPr/>
        </p:nvSpPr>
        <p:spPr>
          <a:xfrm>
            <a:off x="6309360" y="4069080"/>
            <a:ext cx="13716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30936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Aguardando avaliação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03120" y="4480560"/>
            <a:ext cx="5669280" cy="91"/>
          </a:xfrm>
          <a:prstGeom prst="line">
            <a:avLst/>
          </a:prstGeom>
          <a:noFill/>
          <a:ln w="9525">
            <a:solidFill>
              <a:srgbClr val="E9EDF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03120" y="4526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Carla Mendes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794760" y="4526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Metodologia (v2)</a:t>
            </a:r>
            <a:endParaRPr lang="en-US" sz="1000" dirty="0"/>
          </a:p>
        </p:txBody>
      </p:sp>
      <p:sp>
        <p:nvSpPr>
          <p:cNvPr id="49" name="Barra fundo 2"/>
          <p:cNvSpPr/>
          <p:nvPr/>
        </p:nvSpPr>
        <p:spPr>
          <a:xfrm>
            <a:off x="5257800" y="4709160"/>
            <a:ext cx="594360" cy="91440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50" name="Barra progresso 2"/>
          <p:cNvSpPr/>
          <p:nvPr/>
        </p:nvSpPr>
        <p:spPr>
          <a:xfrm>
            <a:off x="5257800" y="4709160"/>
            <a:ext cx="237744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916168" y="4526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40%</a:t>
            </a:r>
            <a:endParaRPr lang="en-US" sz="1000" dirty="0"/>
          </a:p>
        </p:txBody>
      </p:sp>
      <p:sp>
        <p:nvSpPr>
          <p:cNvPr id="52" name="Situação 2"/>
          <p:cNvSpPr/>
          <p:nvPr/>
        </p:nvSpPr>
        <p:spPr>
          <a:xfrm>
            <a:off x="6309360" y="4617720"/>
            <a:ext cx="13716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30936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Alterações solicitadas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03120" y="5029200"/>
            <a:ext cx="5669280" cy="91"/>
          </a:xfrm>
          <a:prstGeom prst="line">
            <a:avLst/>
          </a:prstGeom>
          <a:noFill/>
          <a:ln w="9525">
            <a:solidFill>
              <a:srgbClr val="E9EDF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103120" y="5074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Elisa Reis e Igor Melo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794760" y="5074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Resultados (v1)</a:t>
            </a:r>
            <a:endParaRPr lang="en-US" sz="1000" dirty="0"/>
          </a:p>
        </p:txBody>
      </p:sp>
      <p:sp>
        <p:nvSpPr>
          <p:cNvPr id="57" name="Barra fundo 3"/>
          <p:cNvSpPr/>
          <p:nvPr/>
        </p:nvSpPr>
        <p:spPr>
          <a:xfrm>
            <a:off x="5257800" y="5257800"/>
            <a:ext cx="594360" cy="91440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58" name="Barra progresso 3"/>
          <p:cNvSpPr/>
          <p:nvPr/>
        </p:nvSpPr>
        <p:spPr>
          <a:xfrm>
            <a:off x="5257800" y="5257800"/>
            <a:ext cx="475488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916168" y="5074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80%</a:t>
            </a:r>
            <a:endParaRPr lang="en-US" sz="1000" dirty="0"/>
          </a:p>
        </p:txBody>
      </p:sp>
      <p:sp>
        <p:nvSpPr>
          <p:cNvPr id="60" name="Situação 3"/>
          <p:cNvSpPr/>
          <p:nvPr/>
        </p:nvSpPr>
        <p:spPr>
          <a:xfrm>
            <a:off x="6309360" y="5166360"/>
            <a:ext cx="137160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309360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Em desenvolvimento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7881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Dashboard do orientador (RF14) · desktop</a:t>
            </a:r>
            <a:endParaRPr lang="en-US" sz="1400" dirty="0"/>
          </a:p>
        </p:txBody>
      </p:sp>
      <p:sp>
        <p:nvSpPr>
          <p:cNvPr id="63" name="Moldura smartphone"/>
          <p:cNvSpPr/>
          <p:nvPr/>
        </p:nvSpPr>
        <p:spPr>
          <a:xfrm>
            <a:off x="8915400" y="1298448"/>
            <a:ext cx="2514600" cy="452628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5400">
            <a:solidFill>
              <a:srgbClr val="8A96A3"/>
            </a:solidFill>
            <a:prstDash val="solid"/>
          </a:ln>
        </p:spPr>
      </p:sp>
      <p:sp>
        <p:nvSpPr>
          <p:cNvPr id="64" name="Cabeçalho app"/>
          <p:cNvSpPr/>
          <p:nvPr/>
        </p:nvSpPr>
        <p:spPr>
          <a:xfrm>
            <a:off x="9052560" y="1527048"/>
            <a:ext cx="224028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162288" y="15270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Meu TCC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9052560" y="20299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Progresso</a:t>
            </a:r>
            <a:endParaRPr lang="en-US" sz="1000" dirty="0"/>
          </a:p>
        </p:txBody>
      </p:sp>
      <p:sp>
        <p:nvSpPr>
          <p:cNvPr id="67" name="Progresso fundo"/>
          <p:cNvSpPr/>
          <p:nvPr/>
        </p:nvSpPr>
        <p:spPr>
          <a:xfrm>
            <a:off x="9052560" y="2267712"/>
            <a:ext cx="2240280" cy="128016"/>
          </a:xfrm>
          <a:prstGeom prst="rect">
            <a:avLst/>
          </a:prstGeom>
          <a:solidFill>
            <a:srgbClr val="E9EDF2"/>
          </a:solidFill>
          <a:ln/>
        </p:spPr>
      </p:sp>
      <p:sp>
        <p:nvSpPr>
          <p:cNvPr id="68" name="Progresso valor"/>
          <p:cNvSpPr/>
          <p:nvPr/>
        </p:nvSpPr>
        <p:spPr>
          <a:xfrm>
            <a:off x="9052560" y="2267712"/>
            <a:ext cx="89611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9052560" y="24414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2 de 5 etapas aprovadas · 40%</a:t>
            </a:r>
            <a:endParaRPr lang="en-US" sz="1000" dirty="0"/>
          </a:p>
        </p:txBody>
      </p:sp>
      <p:sp>
        <p:nvSpPr>
          <p:cNvPr id="70" name="Indicador etapa 0"/>
          <p:cNvSpPr/>
          <p:nvPr/>
        </p:nvSpPr>
        <p:spPr>
          <a:xfrm>
            <a:off x="9052560" y="2852928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9217152" y="277977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Introdução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9217152" y="29900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Aprovada</a:t>
            </a:r>
            <a:endParaRPr lang="en-US" sz="1000" dirty="0"/>
          </a:p>
        </p:txBody>
      </p:sp>
      <p:sp>
        <p:nvSpPr>
          <p:cNvPr id="73" name="Indicador etapa 1"/>
          <p:cNvSpPr/>
          <p:nvPr/>
        </p:nvSpPr>
        <p:spPr>
          <a:xfrm>
            <a:off x="9052560" y="3328416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217152" y="32552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Fundamentação teórica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9217152" y="34655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Aguardando avaliação · v2</a:t>
            </a:r>
            <a:endParaRPr lang="en-US" sz="1000" dirty="0"/>
          </a:p>
        </p:txBody>
      </p:sp>
      <p:sp>
        <p:nvSpPr>
          <p:cNvPr id="76" name="Indicador etapa 2"/>
          <p:cNvSpPr/>
          <p:nvPr/>
        </p:nvSpPr>
        <p:spPr>
          <a:xfrm>
            <a:off x="9052560" y="3803904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9217152" y="37307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Metodologia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217152" y="394106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Aprovada</a:t>
            </a:r>
            <a:endParaRPr lang="en-US" sz="1000" dirty="0"/>
          </a:p>
        </p:txBody>
      </p:sp>
      <p:sp>
        <p:nvSpPr>
          <p:cNvPr id="79" name="Indicador etapa 3"/>
          <p:cNvSpPr/>
          <p:nvPr/>
        </p:nvSpPr>
        <p:spPr>
          <a:xfrm>
            <a:off x="9052560" y="4279392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9217152" y="42062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Desenvolvimento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9217152" y="44165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Pendente</a:t>
            </a:r>
            <a:endParaRPr lang="en-US" sz="1000" dirty="0"/>
          </a:p>
        </p:txBody>
      </p:sp>
      <p:sp>
        <p:nvSpPr>
          <p:cNvPr id="82" name="Indicador etapa 4"/>
          <p:cNvSpPr/>
          <p:nvPr/>
        </p:nvSpPr>
        <p:spPr>
          <a:xfrm>
            <a:off x="9052560" y="4754880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9217152" y="46817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Conclusão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9217152" y="48920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Pendente</a:t>
            </a:r>
            <a:endParaRPr lang="en-US" sz="1000" dirty="0"/>
          </a:p>
        </p:txBody>
      </p:sp>
      <p:sp>
        <p:nvSpPr>
          <p:cNvPr id="85" name="Botão enviar"/>
          <p:cNvSpPr/>
          <p:nvPr/>
        </p:nvSpPr>
        <p:spPr>
          <a:xfrm>
            <a:off x="9052560" y="5276088"/>
            <a:ext cx="224028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9052560" y="52760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Enviar entrega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8229600" y="578815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Aluno (RF13, RNF04) · smartphone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Protótipos de baixa fidelidade · dados fictícios · etapas ilustrativas, pois a lista oficial ainda está em aberto (D11)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 análise e o projeto conceitual estão concluídos; a implementação seguirá em três incrementos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34440" y="2377440"/>
            <a:ext cx="4165745" cy="91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00185" y="2377440"/>
            <a:ext cx="5554327" cy="91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5373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Concluído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102967" y="1463040"/>
            <a:ext cx="55373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Próximas etapas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4476" y="1965960"/>
            <a:ext cx="91" cy="64008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67628" y="1901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hoje</a:t>
            </a:r>
            <a:endParaRPr lang="en-US" sz="1200" dirty="0"/>
          </a:p>
        </p:txBody>
      </p:sp>
      <p:sp>
        <p:nvSpPr>
          <p:cNvPr id="9" name="Marco 1"/>
          <p:cNvSpPr/>
          <p:nvPr/>
        </p:nvSpPr>
        <p:spPr>
          <a:xfrm>
            <a:off x="1069848" y="221284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" y="267004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Missão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Problema e escopo</a:t>
            </a:r>
            <a:endParaRPr lang="en-US" sz="1300" dirty="0"/>
          </a:p>
        </p:txBody>
      </p:sp>
      <p:sp>
        <p:nvSpPr>
          <p:cNvPr id="11" name="Marco 2"/>
          <p:cNvSpPr/>
          <p:nvPr/>
        </p:nvSpPr>
        <p:spPr>
          <a:xfrm>
            <a:off x="2458430" y="221284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4654" y="267004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Missão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Requisitos e casos de uso</a:t>
            </a:r>
            <a:endParaRPr lang="en-US" sz="1300" dirty="0"/>
          </a:p>
        </p:txBody>
      </p:sp>
      <p:sp>
        <p:nvSpPr>
          <p:cNvPr id="13" name="Marco 3"/>
          <p:cNvSpPr/>
          <p:nvPr/>
        </p:nvSpPr>
        <p:spPr>
          <a:xfrm>
            <a:off x="3847011" y="221284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53235" y="267004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Missão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Raio-X estrutural</a:t>
            </a:r>
            <a:endParaRPr lang="en-US" sz="1300" dirty="0"/>
          </a:p>
        </p:txBody>
      </p:sp>
      <p:sp>
        <p:nvSpPr>
          <p:cNvPr id="15" name="Marco 4"/>
          <p:cNvSpPr/>
          <p:nvPr/>
        </p:nvSpPr>
        <p:spPr>
          <a:xfrm>
            <a:off x="5235593" y="221284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41817" y="267004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Missão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Responsabilidades e CRC</a:t>
            </a:r>
            <a:endParaRPr lang="en-US" sz="1300" dirty="0"/>
          </a:p>
        </p:txBody>
      </p:sp>
      <p:sp>
        <p:nvSpPr>
          <p:cNvPr id="17" name="Marco 5"/>
          <p:cNvSpPr/>
          <p:nvPr/>
        </p:nvSpPr>
        <p:spPr>
          <a:xfrm>
            <a:off x="6624175" y="2212848"/>
            <a:ext cx="329184" cy="32918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30399" y="267004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Encontro 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Clínica de Projetos</a:t>
            </a:r>
            <a:endParaRPr lang="en-US" sz="1300" dirty="0"/>
          </a:p>
        </p:txBody>
      </p:sp>
      <p:sp>
        <p:nvSpPr>
          <p:cNvPr id="19" name="Marco 6"/>
          <p:cNvSpPr/>
          <p:nvPr/>
        </p:nvSpPr>
        <p:spPr>
          <a:xfrm>
            <a:off x="8012757" y="2212848"/>
            <a:ext cx="329184" cy="32918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18981" y="267004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Unidade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Diagrama de classes</a:t>
            </a:r>
            <a:endParaRPr lang="en-US" sz="1300" dirty="0"/>
          </a:p>
        </p:txBody>
      </p:sp>
      <p:sp>
        <p:nvSpPr>
          <p:cNvPr id="21" name="Marco 7"/>
          <p:cNvSpPr/>
          <p:nvPr/>
        </p:nvSpPr>
        <p:spPr>
          <a:xfrm>
            <a:off x="9401338" y="2212848"/>
            <a:ext cx="329184" cy="32918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07562" y="267004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Validação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Protótipos com usuários</a:t>
            </a:r>
            <a:endParaRPr lang="en-US" sz="1300" dirty="0"/>
          </a:p>
        </p:txBody>
      </p:sp>
      <p:sp>
        <p:nvSpPr>
          <p:cNvPr id="23" name="Marco 8"/>
          <p:cNvSpPr/>
          <p:nvPr/>
        </p:nvSpPr>
        <p:spPr>
          <a:xfrm>
            <a:off x="10789920" y="2212848"/>
            <a:ext cx="329184" cy="32918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96144" y="2670048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Implementação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Incrementos 1 a 3</a:t>
            </a:r>
            <a:endParaRPr lang="en-US" sz="1300" dirty="0"/>
          </a:p>
        </p:txBody>
      </p:sp>
      <p:sp>
        <p:nvSpPr>
          <p:cNvPr id="25" name="Incremento 1"/>
          <p:cNvSpPr/>
          <p:nvPr/>
        </p:nvSpPr>
        <p:spPr>
          <a:xfrm>
            <a:off x="548640" y="3657600"/>
            <a:ext cx="3484778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384048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Incremento 1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297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Cadastro, pré-projeto e vínculos (UC01–UC04)</a:t>
            </a:r>
            <a:endParaRPr lang="en-US" sz="1700" dirty="0"/>
          </a:p>
        </p:txBody>
      </p:sp>
      <p:sp>
        <p:nvSpPr>
          <p:cNvPr id="28" name="Incremento 2"/>
          <p:cNvSpPr/>
          <p:nvPr/>
        </p:nvSpPr>
        <p:spPr>
          <a:xfrm>
            <a:off x="4353458" y="3657600"/>
            <a:ext cx="3484778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27778" y="384048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Incremento 2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627778" y="4297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Submissão, avaliação e histórico (UC05–UC07)</a:t>
            </a:r>
            <a:endParaRPr lang="en-US" sz="1700" dirty="0"/>
          </a:p>
        </p:txBody>
      </p:sp>
      <p:sp>
        <p:nvSpPr>
          <p:cNvPr id="31" name="Incremento 3"/>
          <p:cNvSpPr/>
          <p:nvPr/>
        </p:nvSpPr>
        <p:spPr>
          <a:xfrm>
            <a:off x="8158277" y="3657600"/>
            <a:ext cx="3484778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32597" y="384048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Incremento 3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432597" y="4297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Progresso e dashboards (UC08–UC10)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5778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Processo proposto: iterativo e incremental, com sprints curtas inspiradas no Scrum (Schwaber; Sutherland, 2020)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Os maiores riscos estão no controle de acesso e nas decisões de projeto ainda em aberto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286000"/>
                <a:gridCol w="47850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Risco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Origem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Mitigação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Acesso indevido a TCCs de terceiros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C55A11"/>
                          </a:solidFill>
                        </a:rPr>
                        <a:t>maior desafio identificado até aqui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RNF02 · RN08 · RN09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Verificar o perfil na API e o vínculo no domínio (TCC), em duas camadas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Lista de etapas indefinida (fixa ou configurável)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D11 · RF07 · RN13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Levar à Clínica de Projetos; começar com lista fixa parametrizável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Situação da etapa divergir do histórico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D10 · RNF03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Só a Etapa altera sua situação, na mesma transação da entrega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Etapa acumular regras novas (prazos, reabertura)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D08 · Mudança 2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Extrair a política de aceite se as regras crescerem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Crescimento do armazenamento de versões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D09 · RNF06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Limite de tamanho por arquivo e armazenamento externo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778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Decisões D07 a D11 registradas nos diários de decisões das Missões 3 e 4 (grupo, 2026)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 ProTCC substitui canais dispersos por um histórico único, verificável e acompanhado por perfil</a:t>
            </a:r>
            <a:endParaRPr lang="en-US" sz="2600" dirty="0"/>
          </a:p>
        </p:txBody>
      </p:sp>
      <p:sp>
        <p:nvSpPr>
          <p:cNvPr id="3" name="Resultado Aluno"/>
          <p:cNvSpPr/>
          <p:nvPr/>
        </p:nvSpPr>
        <p:spPr>
          <a:xfrm>
            <a:off x="548640" y="1417320"/>
            <a:ext cx="3484778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Aluno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9361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Sabe o que foi aprovado, o que está em avaliação e em qual versão</a:t>
            </a:r>
            <a:endParaRPr lang="en-US" sz="1800" dirty="0"/>
          </a:p>
        </p:txBody>
      </p:sp>
      <p:sp>
        <p:nvSpPr>
          <p:cNvPr id="6" name="Resultado Orientador"/>
          <p:cNvSpPr/>
          <p:nvPr/>
        </p:nvSpPr>
        <p:spPr>
          <a:xfrm>
            <a:off x="4353458" y="1417320"/>
            <a:ext cx="3484778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27778" y="164592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Orientador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27778" y="2148840"/>
            <a:ext cx="29361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Vê em um painel a fila de entregas que aguardam sua análise</a:t>
            </a:r>
            <a:endParaRPr lang="en-US" sz="1800" dirty="0"/>
          </a:p>
        </p:txBody>
      </p:sp>
      <p:sp>
        <p:nvSpPr>
          <p:cNvPr id="9" name="Resultado Coordenação"/>
          <p:cNvSpPr/>
          <p:nvPr/>
        </p:nvSpPr>
        <p:spPr>
          <a:xfrm>
            <a:off x="8158277" y="1417320"/>
            <a:ext cx="3484778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32597" y="164592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Coordenação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32597" y="2148840"/>
            <a:ext cx="29361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Acompanha o progresso do curso e identifica atrasos para agir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94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Próximos passos</a:t>
            </a:r>
            <a:endParaRPr lang="en-US" sz="2000" dirty="0"/>
          </a:p>
        </p:txBody>
      </p:sp>
      <p:sp>
        <p:nvSpPr>
          <p:cNvPr id="13" name="Passo 1"/>
          <p:cNvSpPr/>
          <p:nvPr/>
        </p:nvSpPr>
        <p:spPr>
          <a:xfrm>
            <a:off x="548640" y="4343400"/>
            <a:ext cx="3789578" cy="1188720"/>
          </a:xfrm>
          <a:prstGeom prst="homePlat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34340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Decidir a lista de etapas (D11) na Clínica de Projetos</a:t>
            </a:r>
            <a:endParaRPr lang="en-US" sz="1700" dirty="0"/>
          </a:p>
        </p:txBody>
      </p:sp>
      <p:sp>
        <p:nvSpPr>
          <p:cNvPr id="15" name="Passo 2"/>
          <p:cNvSpPr/>
          <p:nvPr/>
        </p:nvSpPr>
        <p:spPr>
          <a:xfrm>
            <a:off x="4201058" y="4343400"/>
            <a:ext cx="3789578" cy="1188720"/>
          </a:xfrm>
          <a:prstGeom prst="homePlat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03978" y="434340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Modelar o diagrama de classes: TCC, Etapa e Entrega</a:t>
            </a:r>
            <a:endParaRPr lang="en-US" sz="1700" dirty="0"/>
          </a:p>
        </p:txBody>
      </p:sp>
      <p:sp>
        <p:nvSpPr>
          <p:cNvPr id="17" name="Passo 3"/>
          <p:cNvSpPr/>
          <p:nvPr/>
        </p:nvSpPr>
        <p:spPr>
          <a:xfrm>
            <a:off x="7853477" y="4343400"/>
            <a:ext cx="3789578" cy="1188720"/>
          </a:xfrm>
          <a:prstGeom prst="homePlat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56397" y="434340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Validar os protótipos com orientadores e coordenação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Referências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1323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BECK, K.; CUNNINGHAM, W. A laboratory for teaching object-oriented thinking. In: OOPSLA '89. New York: ACM, 1989. p. 1–6.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FERREIRA, G. C. et al. ProTCC: Missões 1 a 4 – Engenharia de Software II. Macapá: UNIFAP, 2026.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LARMAN, C. Utilizando UML e padrões: uma introdução à análise e ao projeto orientados a objetos e ao desenvolvimento iterativo. 3. ed. Porto Alegre: Bookman, 2007.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PRESSMAN, R. S.; MAXIM, B. R. Engenharia de software: uma abordagem profissional. 8. ed. Porto Alegre: AMGH, 2016.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SCHWABER, K.; SUTHERLAND, J. The Scrum Guide. 2020. Disponível em: scrumguides.org.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SOMMERVILLE, I. Engenharia de software. 10. ed. São Paulo: Pearson, 2018.</a:t>
            </a:r>
            <a:endParaRPr lang="en-US" sz="1600" dirty="0"/>
          </a:p>
        </p:txBody>
      </p:sp>
      <p:sp>
        <p:nvSpPr>
          <p:cNvPr id="4" name="Contato"/>
          <p:cNvSpPr/>
          <p:nvPr/>
        </p:nvSpPr>
        <p:spPr>
          <a:xfrm>
            <a:off x="8092440" y="1371600"/>
            <a:ext cx="3550615" cy="4663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0" y="1691640"/>
            <a:ext cx="2910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Obrigado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2331720"/>
            <a:ext cx="2910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Perguntas e contribuições são bem-vindas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4206240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Repositório do projeto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4572000"/>
            <a:ext cx="2910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github.com/Kauesleite/engsoft2-tcc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TCC Academico">
  <a:themeElements>
    <a:clrScheme name="ProTCC Academico">
      <a:dk1>
        <a:srgbClr val="1A1A1A"/>
      </a:dk1>
      <a:lt1>
        <a:srgbClr val="FFFFFF"/>
      </a:lt1>
      <a:dk2>
        <a:srgbClr val="1F4E79"/>
      </a:dk2>
      <a:lt2>
        <a:srgbClr val="EEF3F8"/>
      </a:lt2>
      <a:accent1>
        <a:srgbClr val="1F4E79"/>
      </a:accent1>
      <a:accent2>
        <a:srgbClr val="2E75B6"/>
      </a:accent2>
      <a:accent3>
        <a:srgbClr val="C55A11"/>
      </a:accent3>
      <a:accent4>
        <a:srgbClr val="5F6B78"/>
      </a:accent4>
      <a:accent5>
        <a:srgbClr val="D9E3EE"/>
      </a:accent5>
      <a:accent6>
        <a:srgbClr val="2E7D32"/>
      </a:accent6>
      <a:hlink>
        <a:srgbClr val="2E75B6"/>
      </a:hlink>
      <a:folHlink>
        <a:srgbClr val="1F4E79"/>
      </a:folHlink>
    </a:clrScheme>
    <a:fontScheme name="ProTCC Academic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ProTCC – Sistema de acompanhamento de TCCs</dc:title>
  <dc:subject>Apresentação do projeto ProTCC</dc:subject>
  <dc:creator>Grupo ProTCC – Engenharia de Software II (UNIFAP)</dc:creator>
  <cp:lastModifiedBy>Grupo ProTCC – Engenharia de Software II (UNIFAP)</cp:lastModifiedBy>
  <cp:revision>1</cp:revision>
  <dcterms:created xsi:type="dcterms:W3CDTF">2026-10-08T21:32:06Z</dcterms:created>
  <dcterms:modified xsi:type="dcterms:W3CDTF">2026-10-08T21:32:06Z</dcterms:modified>
</cp:coreProperties>
</file>